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113000" cy="21374100"/>
  <p:notesSz cx="6858000" cy="9144000"/>
  <p:embeddedFontLst>
    <p:embeddedFont>
      <p:font typeface="Bricolage Grotesque Bold" charset="1" panose="020B0605040402000204"/>
      <p:regular r:id="rId7"/>
    </p:embeddedFont>
    <p:embeddedFont>
      <p:font typeface="Telegraf Bold" charset="1" panose="00000800000000000000"/>
      <p:regular r:id="rId8"/>
    </p:embeddedFont>
    <p:embeddedFont>
      <p:font typeface="Telegraf" charset="1" panose="00000500000000000000"/>
      <p:regular r:id="rId9"/>
    </p:embeddedFont>
    <p:embeddedFont>
      <p:font typeface="Canva Sans Bold Italics" charset="1" panose="020B08030305010401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6062" y="3713175"/>
            <a:ext cx="16386062" cy="18056099"/>
            <a:chOff x="0" y="0"/>
            <a:chExt cx="2936197" cy="32354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36197" cy="3235449"/>
            </a:xfrm>
            <a:custGeom>
              <a:avLst/>
              <a:gdLst/>
              <a:ahLst/>
              <a:cxnLst/>
              <a:rect r="r" b="b" t="t" l="l"/>
              <a:pathLst>
                <a:path h="3235449" w="2936197">
                  <a:moveTo>
                    <a:pt x="34963" y="0"/>
                  </a:moveTo>
                  <a:lnTo>
                    <a:pt x="2901235" y="0"/>
                  </a:lnTo>
                  <a:cubicBezTo>
                    <a:pt x="2920544" y="0"/>
                    <a:pt x="2936197" y="15653"/>
                    <a:pt x="2936197" y="34963"/>
                  </a:cubicBezTo>
                  <a:lnTo>
                    <a:pt x="2936197" y="3200486"/>
                  </a:lnTo>
                  <a:cubicBezTo>
                    <a:pt x="2936197" y="3209759"/>
                    <a:pt x="2932514" y="3218652"/>
                    <a:pt x="2925957" y="3225209"/>
                  </a:cubicBezTo>
                  <a:cubicBezTo>
                    <a:pt x="2919400" y="3231766"/>
                    <a:pt x="2910507" y="3235449"/>
                    <a:pt x="2901235" y="3235449"/>
                  </a:cubicBezTo>
                  <a:lnTo>
                    <a:pt x="34963" y="3235449"/>
                  </a:lnTo>
                  <a:cubicBezTo>
                    <a:pt x="25690" y="3235449"/>
                    <a:pt x="16797" y="3231766"/>
                    <a:pt x="10240" y="3225209"/>
                  </a:cubicBezTo>
                  <a:cubicBezTo>
                    <a:pt x="3684" y="3218652"/>
                    <a:pt x="0" y="3209759"/>
                    <a:pt x="0" y="3200486"/>
                  </a:cubicBezTo>
                  <a:lnTo>
                    <a:pt x="0" y="34963"/>
                  </a:lnTo>
                  <a:cubicBezTo>
                    <a:pt x="0" y="25690"/>
                    <a:pt x="3684" y="16797"/>
                    <a:pt x="10240" y="10240"/>
                  </a:cubicBezTo>
                  <a:cubicBezTo>
                    <a:pt x="16797" y="3684"/>
                    <a:pt x="25690" y="0"/>
                    <a:pt x="349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36197" cy="3273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68968" y="9188677"/>
            <a:ext cx="9831454" cy="12195323"/>
            <a:chOff x="0" y="0"/>
            <a:chExt cx="1761686" cy="21852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61686" cy="2185264"/>
            </a:xfrm>
            <a:custGeom>
              <a:avLst/>
              <a:gdLst/>
              <a:ahLst/>
              <a:cxnLst/>
              <a:rect r="r" b="b" t="t" l="l"/>
              <a:pathLst>
                <a:path h="2185264" w="1761686">
                  <a:moveTo>
                    <a:pt x="0" y="0"/>
                  </a:moveTo>
                  <a:lnTo>
                    <a:pt x="1761686" y="0"/>
                  </a:lnTo>
                  <a:lnTo>
                    <a:pt x="1761686" y="2185264"/>
                  </a:lnTo>
                  <a:lnTo>
                    <a:pt x="0" y="2185264"/>
                  </a:lnTo>
                  <a:close/>
                </a:path>
              </a:pathLst>
            </a:custGeom>
            <a:solidFill>
              <a:srgbClr val="F2F2F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761686" cy="2251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6079241">
            <a:off x="3418868" y="13180954"/>
            <a:ext cx="9536520" cy="6375649"/>
            <a:chOff x="0" y="0"/>
            <a:chExt cx="1174825" cy="7854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4825" cy="785430"/>
            </a:xfrm>
            <a:custGeom>
              <a:avLst/>
              <a:gdLst/>
              <a:ahLst/>
              <a:cxnLst/>
              <a:rect r="r" b="b" t="t" l="l"/>
              <a:pathLst>
                <a:path h="785430" w="1174825">
                  <a:moveTo>
                    <a:pt x="0" y="785430"/>
                  </a:moveTo>
                  <a:cubicBezTo>
                    <a:pt x="0" y="578578"/>
                    <a:pt x="125316" y="376314"/>
                    <a:pt x="344098" y="230047"/>
                  </a:cubicBezTo>
                  <a:cubicBezTo>
                    <a:pt x="562880" y="83780"/>
                    <a:pt x="865422" y="0"/>
                    <a:pt x="1174825" y="0"/>
                  </a:cubicBezTo>
                  <a:lnTo>
                    <a:pt x="1174825" y="400700"/>
                  </a:lnTo>
                  <a:cubicBezTo>
                    <a:pt x="1023267" y="400700"/>
                    <a:pt x="875074" y="441739"/>
                    <a:pt x="767906" y="513384"/>
                  </a:cubicBezTo>
                  <a:cubicBezTo>
                    <a:pt x="660740" y="585031"/>
                    <a:pt x="599356" y="684106"/>
                    <a:pt x="599356" y="785430"/>
                  </a:cubicBezTo>
                  <a:lnTo>
                    <a:pt x="0" y="785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267006" y="111832"/>
              <a:ext cx="640814" cy="49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03238" y="20380272"/>
            <a:ext cx="1748795" cy="755610"/>
          </a:xfrm>
          <a:custGeom>
            <a:avLst/>
            <a:gdLst/>
            <a:ahLst/>
            <a:cxnLst/>
            <a:rect r="r" b="b" t="t" l="l"/>
            <a:pathLst>
              <a:path h="755610" w="1748795">
                <a:moveTo>
                  <a:pt x="0" y="0"/>
                </a:moveTo>
                <a:lnTo>
                  <a:pt x="1748795" y="0"/>
                </a:lnTo>
                <a:lnTo>
                  <a:pt x="1748795" y="755609"/>
                </a:lnTo>
                <a:lnTo>
                  <a:pt x="0" y="755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018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04229" y="20429674"/>
            <a:ext cx="1711542" cy="656804"/>
          </a:xfrm>
          <a:custGeom>
            <a:avLst/>
            <a:gdLst/>
            <a:ahLst/>
            <a:cxnLst/>
            <a:rect r="r" b="b" t="t" l="l"/>
            <a:pathLst>
              <a:path h="656804" w="1711542">
                <a:moveTo>
                  <a:pt x="0" y="0"/>
                </a:moveTo>
                <a:lnTo>
                  <a:pt x="1711542" y="0"/>
                </a:lnTo>
                <a:lnTo>
                  <a:pt x="1711542" y="656805"/>
                </a:lnTo>
                <a:lnTo>
                  <a:pt x="0" y="65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97016" y="1077746"/>
            <a:ext cx="561238" cy="362254"/>
          </a:xfrm>
          <a:custGeom>
            <a:avLst/>
            <a:gdLst/>
            <a:ahLst/>
            <a:cxnLst/>
            <a:rect r="r" b="b" t="t" l="l"/>
            <a:pathLst>
              <a:path h="362254" w="561238">
                <a:moveTo>
                  <a:pt x="0" y="0"/>
                </a:moveTo>
                <a:lnTo>
                  <a:pt x="561239" y="0"/>
                </a:lnTo>
                <a:lnTo>
                  <a:pt x="561239" y="362254"/>
                </a:lnTo>
                <a:lnTo>
                  <a:pt x="0" y="362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5032" y="412427"/>
            <a:ext cx="1363969" cy="255744"/>
          </a:xfrm>
          <a:custGeom>
            <a:avLst/>
            <a:gdLst/>
            <a:ahLst/>
            <a:cxnLst/>
            <a:rect r="r" b="b" t="t" l="l"/>
            <a:pathLst>
              <a:path h="255744" w="1363969">
                <a:moveTo>
                  <a:pt x="0" y="0"/>
                </a:moveTo>
                <a:lnTo>
                  <a:pt x="1363969" y="0"/>
                </a:lnTo>
                <a:lnTo>
                  <a:pt x="1363969" y="255744"/>
                </a:lnTo>
                <a:lnTo>
                  <a:pt x="0" y="2557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923001" y="309501"/>
            <a:ext cx="3684999" cy="3102099"/>
          </a:xfrm>
          <a:custGeom>
            <a:avLst/>
            <a:gdLst/>
            <a:ahLst/>
            <a:cxnLst/>
            <a:rect r="r" b="b" t="t" l="l"/>
            <a:pathLst>
              <a:path h="3102099" w="3684999">
                <a:moveTo>
                  <a:pt x="0" y="0"/>
                </a:moveTo>
                <a:lnTo>
                  <a:pt x="3684999" y="0"/>
                </a:lnTo>
                <a:lnTo>
                  <a:pt x="3684999" y="3102099"/>
                </a:lnTo>
                <a:lnTo>
                  <a:pt x="0" y="31020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97016" y="1544593"/>
            <a:ext cx="12844118" cy="13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3"/>
              </a:lnSpc>
            </a:pPr>
            <a:r>
              <a:rPr lang="en-US" sz="2587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Ireland, and specifically Cork, provided the perfect 'Goldilocks' environment: world-class AI research from UCC combined with a gritty, entrepreneurial spirit that allowed us to build global Sourcing Bots that actually work in the real world.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248940" y="-256176"/>
            <a:ext cx="3684999" cy="3102099"/>
          </a:xfrm>
          <a:custGeom>
            <a:avLst/>
            <a:gdLst/>
            <a:ahLst/>
            <a:cxnLst/>
            <a:rect r="r" b="b" t="t" l="l"/>
            <a:pathLst>
              <a:path h="3102099" w="3684999">
                <a:moveTo>
                  <a:pt x="0" y="0"/>
                </a:moveTo>
                <a:lnTo>
                  <a:pt x="3684999" y="0"/>
                </a:lnTo>
                <a:lnTo>
                  <a:pt x="3684999" y="3102099"/>
                </a:lnTo>
                <a:lnTo>
                  <a:pt x="0" y="31020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2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-1167768">
            <a:off x="9639162" y="7955386"/>
            <a:ext cx="6739891" cy="4536000"/>
            <a:chOff x="0" y="0"/>
            <a:chExt cx="1207712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7712" cy="812800"/>
            </a:xfrm>
            <a:custGeom>
              <a:avLst/>
              <a:gdLst/>
              <a:ahLst/>
              <a:cxnLst/>
              <a:rect r="r" b="b" t="t" l="l"/>
              <a:pathLst>
                <a:path h="812800" w="1207712">
                  <a:moveTo>
                    <a:pt x="0" y="0"/>
                  </a:moveTo>
                  <a:lnTo>
                    <a:pt x="1207712" y="0"/>
                  </a:lnTo>
                  <a:lnTo>
                    <a:pt x="120771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2F2F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207712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2863946" y="20284880"/>
            <a:ext cx="1892785" cy="946393"/>
          </a:xfrm>
          <a:custGeom>
            <a:avLst/>
            <a:gdLst/>
            <a:ahLst/>
            <a:cxnLst/>
            <a:rect r="r" b="b" t="t" l="l"/>
            <a:pathLst>
              <a:path h="946393" w="1892785">
                <a:moveTo>
                  <a:pt x="0" y="0"/>
                </a:moveTo>
                <a:lnTo>
                  <a:pt x="1892785" y="0"/>
                </a:lnTo>
                <a:lnTo>
                  <a:pt x="1892785" y="946393"/>
                </a:lnTo>
                <a:lnTo>
                  <a:pt x="0" y="9463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AutoShape 22" id="22"/>
          <p:cNvSpPr/>
          <p:nvPr/>
        </p:nvSpPr>
        <p:spPr>
          <a:xfrm flipH="true" flipV="true">
            <a:off x="-337175" y="7057058"/>
            <a:ext cx="6699162" cy="2027820"/>
          </a:xfrm>
          <a:prstGeom prst="line">
            <a:avLst/>
          </a:prstGeom>
          <a:ln cap="flat" w="38100">
            <a:solidFill>
              <a:srgbClr val="5B4EE1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9518548" y="7037673"/>
            <a:ext cx="5521185" cy="1946170"/>
          </a:xfrm>
          <a:prstGeom prst="line">
            <a:avLst/>
          </a:prstGeom>
          <a:ln cap="flat" w="38100">
            <a:solidFill>
              <a:srgbClr val="5B4EE1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1443404" y="10225685"/>
            <a:ext cx="1426025" cy="606562"/>
            <a:chOff x="0" y="0"/>
            <a:chExt cx="255528" cy="10868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5528" cy="108689"/>
            </a:xfrm>
            <a:custGeom>
              <a:avLst/>
              <a:gdLst/>
              <a:ahLst/>
              <a:cxnLst/>
              <a:rect r="r" b="b" t="t" l="l"/>
              <a:pathLst>
                <a:path h="108689" w="255528">
                  <a:moveTo>
                    <a:pt x="54345" y="0"/>
                  </a:moveTo>
                  <a:lnTo>
                    <a:pt x="201183" y="0"/>
                  </a:lnTo>
                  <a:cubicBezTo>
                    <a:pt x="215596" y="0"/>
                    <a:pt x="229419" y="5726"/>
                    <a:pt x="239610" y="15917"/>
                  </a:cubicBezTo>
                  <a:cubicBezTo>
                    <a:pt x="249802" y="26109"/>
                    <a:pt x="255528" y="39931"/>
                    <a:pt x="255528" y="54345"/>
                  </a:cubicBezTo>
                  <a:lnTo>
                    <a:pt x="255528" y="54345"/>
                  </a:lnTo>
                  <a:cubicBezTo>
                    <a:pt x="255528" y="68758"/>
                    <a:pt x="249802" y="82580"/>
                    <a:pt x="239610" y="92772"/>
                  </a:cubicBezTo>
                  <a:cubicBezTo>
                    <a:pt x="229419" y="102964"/>
                    <a:pt x="215596" y="108689"/>
                    <a:pt x="201183" y="108689"/>
                  </a:cubicBezTo>
                  <a:lnTo>
                    <a:pt x="54345" y="108689"/>
                  </a:lnTo>
                  <a:cubicBezTo>
                    <a:pt x="39931" y="108689"/>
                    <a:pt x="26109" y="102964"/>
                    <a:pt x="15917" y="92772"/>
                  </a:cubicBezTo>
                  <a:cubicBezTo>
                    <a:pt x="5726" y="82580"/>
                    <a:pt x="0" y="68758"/>
                    <a:pt x="0" y="54345"/>
                  </a:cubicBezTo>
                  <a:lnTo>
                    <a:pt x="0" y="54345"/>
                  </a:lnTo>
                  <a:cubicBezTo>
                    <a:pt x="0" y="39931"/>
                    <a:pt x="5726" y="26109"/>
                    <a:pt x="15917" y="15917"/>
                  </a:cubicBezTo>
                  <a:cubicBezTo>
                    <a:pt x="26109" y="5726"/>
                    <a:pt x="39931" y="0"/>
                    <a:pt x="54345" y="0"/>
                  </a:cubicBezTo>
                  <a:close/>
                </a:path>
              </a:pathLst>
            </a:custGeom>
            <a:solidFill>
              <a:srgbClr val="DBDB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255528" cy="175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b="true" sz="1882">
                  <a:solidFill>
                    <a:srgbClr val="5B4EE1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Demand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43404" y="11343641"/>
            <a:ext cx="2343248" cy="617392"/>
            <a:chOff x="0" y="0"/>
            <a:chExt cx="419884" cy="1106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9884" cy="110630"/>
            </a:xfrm>
            <a:custGeom>
              <a:avLst/>
              <a:gdLst/>
              <a:ahLst/>
              <a:cxnLst/>
              <a:rect r="r" b="b" t="t" l="l"/>
              <a:pathLst>
                <a:path h="110630" w="419884">
                  <a:moveTo>
                    <a:pt x="55315" y="0"/>
                  </a:moveTo>
                  <a:lnTo>
                    <a:pt x="364569" y="0"/>
                  </a:lnTo>
                  <a:cubicBezTo>
                    <a:pt x="379239" y="0"/>
                    <a:pt x="393309" y="5828"/>
                    <a:pt x="403682" y="16201"/>
                  </a:cubicBezTo>
                  <a:cubicBezTo>
                    <a:pt x="414056" y="26575"/>
                    <a:pt x="419884" y="40644"/>
                    <a:pt x="419884" y="55315"/>
                  </a:cubicBezTo>
                  <a:lnTo>
                    <a:pt x="419884" y="55315"/>
                  </a:lnTo>
                  <a:cubicBezTo>
                    <a:pt x="419884" y="69985"/>
                    <a:pt x="414056" y="84055"/>
                    <a:pt x="403682" y="94428"/>
                  </a:cubicBezTo>
                  <a:cubicBezTo>
                    <a:pt x="393309" y="104802"/>
                    <a:pt x="379239" y="110630"/>
                    <a:pt x="364569" y="110630"/>
                  </a:cubicBezTo>
                  <a:lnTo>
                    <a:pt x="55315" y="110630"/>
                  </a:lnTo>
                  <a:cubicBezTo>
                    <a:pt x="40644" y="110630"/>
                    <a:pt x="26575" y="104802"/>
                    <a:pt x="16201" y="94428"/>
                  </a:cubicBezTo>
                  <a:cubicBezTo>
                    <a:pt x="5828" y="84055"/>
                    <a:pt x="0" y="69985"/>
                    <a:pt x="0" y="55315"/>
                  </a:cubicBezTo>
                  <a:lnTo>
                    <a:pt x="0" y="55315"/>
                  </a:lnTo>
                  <a:cubicBezTo>
                    <a:pt x="0" y="40644"/>
                    <a:pt x="5828" y="26575"/>
                    <a:pt x="16201" y="16201"/>
                  </a:cubicBezTo>
                  <a:cubicBezTo>
                    <a:pt x="26575" y="5828"/>
                    <a:pt x="40644" y="0"/>
                    <a:pt x="55315" y="0"/>
                  </a:cubicBezTo>
                  <a:close/>
                </a:path>
              </a:pathLst>
            </a:custGeom>
            <a:solidFill>
              <a:srgbClr val="DBDB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419884" cy="177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b="true" sz="1882">
                  <a:solidFill>
                    <a:srgbClr val="5B4EE1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ingestion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43404" y="12456339"/>
            <a:ext cx="3131407" cy="592019"/>
            <a:chOff x="0" y="0"/>
            <a:chExt cx="561113" cy="10608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1113" cy="106083"/>
            </a:xfrm>
            <a:custGeom>
              <a:avLst/>
              <a:gdLst/>
              <a:ahLst/>
              <a:cxnLst/>
              <a:rect r="r" b="b" t="t" l="l"/>
              <a:pathLst>
                <a:path h="106083" w="561113">
                  <a:moveTo>
                    <a:pt x="53042" y="0"/>
                  </a:moveTo>
                  <a:lnTo>
                    <a:pt x="508071" y="0"/>
                  </a:lnTo>
                  <a:cubicBezTo>
                    <a:pt x="537365" y="0"/>
                    <a:pt x="561113" y="23747"/>
                    <a:pt x="561113" y="53042"/>
                  </a:cubicBezTo>
                  <a:lnTo>
                    <a:pt x="561113" y="53042"/>
                  </a:lnTo>
                  <a:cubicBezTo>
                    <a:pt x="561113" y="82336"/>
                    <a:pt x="537365" y="106083"/>
                    <a:pt x="508071" y="106083"/>
                  </a:cubicBezTo>
                  <a:lnTo>
                    <a:pt x="53042" y="106083"/>
                  </a:lnTo>
                  <a:cubicBezTo>
                    <a:pt x="23747" y="106083"/>
                    <a:pt x="0" y="82336"/>
                    <a:pt x="0" y="53042"/>
                  </a:cubicBezTo>
                  <a:lnTo>
                    <a:pt x="0" y="53042"/>
                  </a:lnTo>
                  <a:cubicBezTo>
                    <a:pt x="0" y="23747"/>
                    <a:pt x="23747" y="0"/>
                    <a:pt x="53042" y="0"/>
                  </a:cubicBezTo>
                  <a:close/>
                </a:path>
              </a:pathLst>
            </a:custGeom>
            <a:solidFill>
              <a:srgbClr val="DBDB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561113" cy="172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5"/>
                </a:lnSpc>
                <a:spcBef>
                  <a:spcPct val="0"/>
                </a:spcBef>
              </a:pPr>
              <a:r>
                <a:rPr lang="en-US" b="true" sz="1882" strike="noStrike" u="none">
                  <a:solidFill>
                    <a:srgbClr val="5B4EE1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AI‑assisted event setup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443404" y="13576080"/>
            <a:ext cx="2007187" cy="609936"/>
            <a:chOff x="0" y="0"/>
            <a:chExt cx="359665" cy="10929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665" cy="109294"/>
            </a:xfrm>
            <a:custGeom>
              <a:avLst/>
              <a:gdLst/>
              <a:ahLst/>
              <a:cxnLst/>
              <a:rect r="r" b="b" t="t" l="l"/>
              <a:pathLst>
                <a:path h="109294" w="359665">
                  <a:moveTo>
                    <a:pt x="54647" y="0"/>
                  </a:moveTo>
                  <a:lnTo>
                    <a:pt x="305018" y="0"/>
                  </a:lnTo>
                  <a:cubicBezTo>
                    <a:pt x="335199" y="0"/>
                    <a:pt x="359665" y="24466"/>
                    <a:pt x="359665" y="54647"/>
                  </a:cubicBezTo>
                  <a:lnTo>
                    <a:pt x="359665" y="54647"/>
                  </a:lnTo>
                  <a:cubicBezTo>
                    <a:pt x="359665" y="69140"/>
                    <a:pt x="353908" y="83040"/>
                    <a:pt x="343660" y="93288"/>
                  </a:cubicBezTo>
                  <a:cubicBezTo>
                    <a:pt x="333411" y="103536"/>
                    <a:pt x="319512" y="109294"/>
                    <a:pt x="305018" y="109294"/>
                  </a:cubicBezTo>
                  <a:lnTo>
                    <a:pt x="54647" y="109294"/>
                  </a:lnTo>
                  <a:cubicBezTo>
                    <a:pt x="40154" y="109294"/>
                    <a:pt x="26254" y="103536"/>
                    <a:pt x="16006" y="93288"/>
                  </a:cubicBezTo>
                  <a:cubicBezTo>
                    <a:pt x="5757" y="83040"/>
                    <a:pt x="0" y="69140"/>
                    <a:pt x="0" y="54647"/>
                  </a:cubicBezTo>
                  <a:lnTo>
                    <a:pt x="0" y="54647"/>
                  </a:lnTo>
                  <a:cubicBezTo>
                    <a:pt x="0" y="40154"/>
                    <a:pt x="5757" y="26254"/>
                    <a:pt x="16006" y="16006"/>
                  </a:cubicBezTo>
                  <a:cubicBezTo>
                    <a:pt x="26254" y="5757"/>
                    <a:pt x="40154" y="0"/>
                    <a:pt x="54647" y="0"/>
                  </a:cubicBezTo>
                  <a:close/>
                </a:path>
              </a:pathLst>
            </a:custGeom>
            <a:solidFill>
              <a:srgbClr val="DBDB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359665" cy="175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5"/>
                </a:lnSpc>
                <a:spcBef>
                  <a:spcPct val="0"/>
                </a:spcBef>
              </a:pPr>
              <a:r>
                <a:rPr lang="en-US" b="true" sz="1882" strike="noStrike" u="none">
                  <a:solidFill>
                    <a:srgbClr val="5B4EE1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Supplier bids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443404" y="15862875"/>
            <a:ext cx="2989742" cy="617124"/>
            <a:chOff x="0" y="0"/>
            <a:chExt cx="535728" cy="11058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5728" cy="110582"/>
            </a:xfrm>
            <a:custGeom>
              <a:avLst/>
              <a:gdLst/>
              <a:ahLst/>
              <a:cxnLst/>
              <a:rect r="r" b="b" t="t" l="l"/>
              <a:pathLst>
                <a:path h="110582" w="535728">
                  <a:moveTo>
                    <a:pt x="55291" y="0"/>
                  </a:moveTo>
                  <a:lnTo>
                    <a:pt x="480437" y="0"/>
                  </a:lnTo>
                  <a:cubicBezTo>
                    <a:pt x="495101" y="0"/>
                    <a:pt x="509165" y="5825"/>
                    <a:pt x="519534" y="16194"/>
                  </a:cubicBezTo>
                  <a:cubicBezTo>
                    <a:pt x="529903" y="26563"/>
                    <a:pt x="535728" y="40627"/>
                    <a:pt x="535728" y="55291"/>
                  </a:cubicBezTo>
                  <a:lnTo>
                    <a:pt x="535728" y="55291"/>
                  </a:lnTo>
                  <a:cubicBezTo>
                    <a:pt x="535728" y="69955"/>
                    <a:pt x="529903" y="84018"/>
                    <a:pt x="519534" y="94387"/>
                  </a:cubicBezTo>
                  <a:cubicBezTo>
                    <a:pt x="509165" y="104756"/>
                    <a:pt x="495101" y="110582"/>
                    <a:pt x="480437" y="110582"/>
                  </a:cubicBezTo>
                  <a:lnTo>
                    <a:pt x="55291" y="110582"/>
                  </a:lnTo>
                  <a:cubicBezTo>
                    <a:pt x="40627" y="110582"/>
                    <a:pt x="26563" y="104756"/>
                    <a:pt x="16194" y="94387"/>
                  </a:cubicBezTo>
                  <a:cubicBezTo>
                    <a:pt x="5825" y="84018"/>
                    <a:pt x="0" y="69955"/>
                    <a:pt x="0" y="55291"/>
                  </a:cubicBezTo>
                  <a:lnTo>
                    <a:pt x="0" y="55291"/>
                  </a:lnTo>
                  <a:cubicBezTo>
                    <a:pt x="0" y="40627"/>
                    <a:pt x="5825" y="26563"/>
                    <a:pt x="16194" y="16194"/>
                  </a:cubicBezTo>
                  <a:cubicBezTo>
                    <a:pt x="26563" y="5825"/>
                    <a:pt x="40627" y="0"/>
                    <a:pt x="55291" y="0"/>
                  </a:cubicBezTo>
                  <a:close/>
                </a:path>
              </a:pathLst>
            </a:custGeom>
            <a:solidFill>
              <a:srgbClr val="DBDB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535728" cy="177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5"/>
                </a:lnSpc>
                <a:spcBef>
                  <a:spcPct val="0"/>
                </a:spcBef>
              </a:pPr>
              <a:r>
                <a:rPr lang="en-US" b="true" sz="1882" strike="noStrike" u="none">
                  <a:solidFill>
                    <a:srgbClr val="5B4EE1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Recommended award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6079241">
            <a:off x="4221525" y="12728025"/>
            <a:ext cx="9536520" cy="6375649"/>
            <a:chOff x="0" y="0"/>
            <a:chExt cx="1174825" cy="78543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74825" cy="785430"/>
            </a:xfrm>
            <a:custGeom>
              <a:avLst/>
              <a:gdLst/>
              <a:ahLst/>
              <a:cxnLst/>
              <a:rect r="r" b="b" t="t" l="l"/>
              <a:pathLst>
                <a:path h="785430" w="1174825">
                  <a:moveTo>
                    <a:pt x="0" y="785430"/>
                  </a:moveTo>
                  <a:cubicBezTo>
                    <a:pt x="0" y="578578"/>
                    <a:pt x="125316" y="376314"/>
                    <a:pt x="344098" y="230047"/>
                  </a:cubicBezTo>
                  <a:cubicBezTo>
                    <a:pt x="562880" y="83780"/>
                    <a:pt x="865422" y="0"/>
                    <a:pt x="1174825" y="0"/>
                  </a:cubicBezTo>
                  <a:lnTo>
                    <a:pt x="1174825" y="400700"/>
                  </a:lnTo>
                  <a:cubicBezTo>
                    <a:pt x="1023267" y="400700"/>
                    <a:pt x="875074" y="441739"/>
                    <a:pt x="767906" y="513384"/>
                  </a:cubicBezTo>
                  <a:cubicBezTo>
                    <a:pt x="660740" y="585031"/>
                    <a:pt x="599356" y="684106"/>
                    <a:pt x="599356" y="785430"/>
                  </a:cubicBezTo>
                  <a:lnTo>
                    <a:pt x="0" y="785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267006" y="111832"/>
              <a:ext cx="640814" cy="495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443404" y="14700365"/>
            <a:ext cx="2696826" cy="622022"/>
            <a:chOff x="0" y="0"/>
            <a:chExt cx="483241" cy="11145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3241" cy="111459"/>
            </a:xfrm>
            <a:custGeom>
              <a:avLst/>
              <a:gdLst/>
              <a:ahLst/>
              <a:cxnLst/>
              <a:rect r="r" b="b" t="t" l="l"/>
              <a:pathLst>
                <a:path h="111459" w="483241">
                  <a:moveTo>
                    <a:pt x="55730" y="0"/>
                  </a:moveTo>
                  <a:lnTo>
                    <a:pt x="427511" y="0"/>
                  </a:lnTo>
                  <a:cubicBezTo>
                    <a:pt x="442292" y="0"/>
                    <a:pt x="456467" y="5871"/>
                    <a:pt x="466918" y="16323"/>
                  </a:cubicBezTo>
                  <a:cubicBezTo>
                    <a:pt x="477369" y="26774"/>
                    <a:pt x="483241" y="40949"/>
                    <a:pt x="483241" y="55730"/>
                  </a:cubicBezTo>
                  <a:lnTo>
                    <a:pt x="483241" y="55730"/>
                  </a:lnTo>
                  <a:cubicBezTo>
                    <a:pt x="483241" y="86508"/>
                    <a:pt x="458290" y="111459"/>
                    <a:pt x="427511" y="111459"/>
                  </a:cubicBezTo>
                  <a:lnTo>
                    <a:pt x="55730" y="111459"/>
                  </a:lnTo>
                  <a:cubicBezTo>
                    <a:pt x="24951" y="111459"/>
                    <a:pt x="0" y="86508"/>
                    <a:pt x="0" y="55730"/>
                  </a:cubicBezTo>
                  <a:lnTo>
                    <a:pt x="0" y="55730"/>
                  </a:lnTo>
                  <a:cubicBezTo>
                    <a:pt x="0" y="24951"/>
                    <a:pt x="24951" y="0"/>
                    <a:pt x="55730" y="0"/>
                  </a:cubicBezTo>
                  <a:close/>
                </a:path>
              </a:pathLst>
            </a:custGeom>
            <a:solidFill>
              <a:srgbClr val="DBDB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483241" cy="178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35"/>
                </a:lnSpc>
                <a:spcBef>
                  <a:spcPct val="0"/>
                </a:spcBef>
              </a:pPr>
              <a:r>
                <a:rPr lang="en-US" b="true" sz="1882" strike="noStrike" u="none">
                  <a:solidFill>
                    <a:srgbClr val="5B4EE1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AI scenario analysis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5332493" y="8033296"/>
            <a:ext cx="4491488" cy="4191763"/>
          </a:xfrm>
          <a:custGeom>
            <a:avLst/>
            <a:gdLst/>
            <a:ahLst/>
            <a:cxnLst/>
            <a:rect r="r" b="b" t="t" l="l"/>
            <a:pathLst>
              <a:path h="4191763" w="4491488">
                <a:moveTo>
                  <a:pt x="0" y="0"/>
                </a:moveTo>
                <a:lnTo>
                  <a:pt x="4491489" y="0"/>
                </a:lnTo>
                <a:lnTo>
                  <a:pt x="4491489" y="4191763"/>
                </a:lnTo>
                <a:lnTo>
                  <a:pt x="0" y="41917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20" t="0" r="-22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-2248302">
            <a:off x="6363867" y="9738034"/>
            <a:ext cx="2428740" cy="829962"/>
            <a:chOff x="0" y="0"/>
            <a:chExt cx="457092" cy="156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57092" cy="156200"/>
            </a:xfrm>
            <a:custGeom>
              <a:avLst/>
              <a:gdLst/>
              <a:ahLst/>
              <a:cxnLst/>
              <a:rect r="r" b="b" t="t" l="l"/>
              <a:pathLst>
                <a:path h="156200" w="457092">
                  <a:moveTo>
                    <a:pt x="78100" y="0"/>
                  </a:moveTo>
                  <a:lnTo>
                    <a:pt x="378992" y="0"/>
                  </a:lnTo>
                  <a:cubicBezTo>
                    <a:pt x="422125" y="0"/>
                    <a:pt x="457092" y="34967"/>
                    <a:pt x="457092" y="78100"/>
                  </a:cubicBezTo>
                  <a:lnTo>
                    <a:pt x="457092" y="78100"/>
                  </a:lnTo>
                  <a:cubicBezTo>
                    <a:pt x="457092" y="121233"/>
                    <a:pt x="422125" y="156200"/>
                    <a:pt x="378992" y="156200"/>
                  </a:cubicBezTo>
                  <a:lnTo>
                    <a:pt x="78100" y="156200"/>
                  </a:lnTo>
                  <a:cubicBezTo>
                    <a:pt x="34967" y="156200"/>
                    <a:pt x="0" y="121233"/>
                    <a:pt x="0" y="78100"/>
                  </a:cubicBezTo>
                  <a:lnTo>
                    <a:pt x="0" y="78100"/>
                  </a:lnTo>
                  <a:cubicBezTo>
                    <a:pt x="0" y="34967"/>
                    <a:pt x="34967" y="0"/>
                    <a:pt x="78100" y="0"/>
                  </a:cubicBezTo>
                  <a:close/>
                </a:path>
              </a:pathLst>
            </a:custGeom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457092" cy="222875"/>
            </a:xfrm>
            <a:prstGeom prst="rect">
              <a:avLst/>
            </a:prstGeom>
          </p:spPr>
          <p:txBody>
            <a:bodyPr anchor="ctr" rtlCol="false" tIns="48367" lIns="48367" bIns="48367" rIns="48367"/>
            <a:lstStyle/>
            <a:p>
              <a:pPr algn="ctr">
                <a:lnSpc>
                  <a:spcPts val="2775"/>
                </a:lnSpc>
              </a:pPr>
              <a:r>
                <a:rPr lang="en-US" b="true" sz="1982">
                  <a:solidFill>
                    <a:srgbClr val="7977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TIMELINE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>
            <a:off x="6168968" y="12011971"/>
            <a:ext cx="0" cy="9372029"/>
          </a:xfrm>
          <a:prstGeom prst="line">
            <a:avLst/>
          </a:prstGeom>
          <a:ln cap="flat" w="38100">
            <a:solidFill>
              <a:srgbClr val="5B4EE1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H="true" flipV="true">
            <a:off x="-1471115" y="-1365833"/>
            <a:ext cx="6361986" cy="1891736"/>
          </a:xfrm>
          <a:prstGeom prst="line">
            <a:avLst/>
          </a:prstGeom>
          <a:ln cap="flat" w="38100">
            <a:solidFill>
              <a:srgbClr val="5B4EE1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1" id="51"/>
          <p:cNvSpPr/>
          <p:nvPr/>
        </p:nvSpPr>
        <p:spPr>
          <a:xfrm flipH="false" flipV="false" rot="0">
            <a:off x="6008293" y="12456339"/>
            <a:ext cx="276244" cy="348024"/>
          </a:xfrm>
          <a:custGeom>
            <a:avLst/>
            <a:gdLst/>
            <a:ahLst/>
            <a:cxnLst/>
            <a:rect r="r" b="b" t="t" l="l"/>
            <a:pathLst>
              <a:path h="348024" w="276244">
                <a:moveTo>
                  <a:pt x="0" y="0"/>
                </a:moveTo>
                <a:lnTo>
                  <a:pt x="276243" y="0"/>
                </a:lnTo>
                <a:lnTo>
                  <a:pt x="276243" y="348024"/>
                </a:lnTo>
                <a:lnTo>
                  <a:pt x="0" y="3480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6008293" y="13355945"/>
            <a:ext cx="276244" cy="348024"/>
          </a:xfrm>
          <a:custGeom>
            <a:avLst/>
            <a:gdLst/>
            <a:ahLst/>
            <a:cxnLst/>
            <a:rect r="r" b="b" t="t" l="l"/>
            <a:pathLst>
              <a:path h="348024" w="276244">
                <a:moveTo>
                  <a:pt x="0" y="0"/>
                </a:moveTo>
                <a:lnTo>
                  <a:pt x="276243" y="0"/>
                </a:lnTo>
                <a:lnTo>
                  <a:pt x="276243" y="348024"/>
                </a:lnTo>
                <a:lnTo>
                  <a:pt x="0" y="3480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6030846" y="14463693"/>
            <a:ext cx="276244" cy="348024"/>
          </a:xfrm>
          <a:custGeom>
            <a:avLst/>
            <a:gdLst/>
            <a:ahLst/>
            <a:cxnLst/>
            <a:rect r="r" b="b" t="t" l="l"/>
            <a:pathLst>
              <a:path h="348024" w="276244">
                <a:moveTo>
                  <a:pt x="0" y="0"/>
                </a:moveTo>
                <a:lnTo>
                  <a:pt x="276244" y="0"/>
                </a:lnTo>
                <a:lnTo>
                  <a:pt x="276244" y="348023"/>
                </a:lnTo>
                <a:lnTo>
                  <a:pt x="0" y="3480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6030846" y="15362285"/>
            <a:ext cx="276244" cy="348024"/>
          </a:xfrm>
          <a:custGeom>
            <a:avLst/>
            <a:gdLst/>
            <a:ahLst/>
            <a:cxnLst/>
            <a:rect r="r" b="b" t="t" l="l"/>
            <a:pathLst>
              <a:path h="348024" w="276244">
                <a:moveTo>
                  <a:pt x="0" y="0"/>
                </a:moveTo>
                <a:lnTo>
                  <a:pt x="276244" y="0"/>
                </a:lnTo>
                <a:lnTo>
                  <a:pt x="276244" y="348024"/>
                </a:lnTo>
                <a:lnTo>
                  <a:pt x="0" y="3480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6030846" y="16519691"/>
            <a:ext cx="276244" cy="348024"/>
          </a:xfrm>
          <a:custGeom>
            <a:avLst/>
            <a:gdLst/>
            <a:ahLst/>
            <a:cxnLst/>
            <a:rect r="r" b="b" t="t" l="l"/>
            <a:pathLst>
              <a:path h="348024" w="276244">
                <a:moveTo>
                  <a:pt x="0" y="0"/>
                </a:moveTo>
                <a:lnTo>
                  <a:pt x="276244" y="0"/>
                </a:lnTo>
                <a:lnTo>
                  <a:pt x="276244" y="348024"/>
                </a:lnTo>
                <a:lnTo>
                  <a:pt x="0" y="3480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6030846" y="17465721"/>
            <a:ext cx="276244" cy="348024"/>
          </a:xfrm>
          <a:custGeom>
            <a:avLst/>
            <a:gdLst/>
            <a:ahLst/>
            <a:cxnLst/>
            <a:rect r="r" b="b" t="t" l="l"/>
            <a:pathLst>
              <a:path h="348024" w="276244">
                <a:moveTo>
                  <a:pt x="0" y="0"/>
                </a:moveTo>
                <a:lnTo>
                  <a:pt x="276244" y="0"/>
                </a:lnTo>
                <a:lnTo>
                  <a:pt x="276244" y="348023"/>
                </a:lnTo>
                <a:lnTo>
                  <a:pt x="0" y="3480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6030846" y="18411750"/>
            <a:ext cx="276244" cy="348024"/>
          </a:xfrm>
          <a:custGeom>
            <a:avLst/>
            <a:gdLst/>
            <a:ahLst/>
            <a:cxnLst/>
            <a:rect r="r" b="b" t="t" l="l"/>
            <a:pathLst>
              <a:path h="348024" w="276244">
                <a:moveTo>
                  <a:pt x="0" y="0"/>
                </a:moveTo>
                <a:lnTo>
                  <a:pt x="276244" y="0"/>
                </a:lnTo>
                <a:lnTo>
                  <a:pt x="276244" y="348024"/>
                </a:lnTo>
                <a:lnTo>
                  <a:pt x="0" y="3480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6030846" y="19359849"/>
            <a:ext cx="276244" cy="348024"/>
          </a:xfrm>
          <a:custGeom>
            <a:avLst/>
            <a:gdLst/>
            <a:ahLst/>
            <a:cxnLst/>
            <a:rect r="r" b="b" t="t" l="l"/>
            <a:pathLst>
              <a:path h="348024" w="276244">
                <a:moveTo>
                  <a:pt x="0" y="0"/>
                </a:moveTo>
                <a:lnTo>
                  <a:pt x="276244" y="0"/>
                </a:lnTo>
                <a:lnTo>
                  <a:pt x="276244" y="348023"/>
                </a:lnTo>
                <a:lnTo>
                  <a:pt x="0" y="3480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-3231052">
            <a:off x="2161588" y="8799519"/>
            <a:ext cx="3563929" cy="4536000"/>
            <a:chOff x="0" y="0"/>
            <a:chExt cx="439048" cy="558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9048" cy="558800"/>
            </a:xfrm>
            <a:custGeom>
              <a:avLst/>
              <a:gdLst/>
              <a:ahLst/>
              <a:cxnLst/>
              <a:rect r="r" b="b" t="t" l="l"/>
              <a:pathLst>
                <a:path h="558800" w="439048">
                  <a:moveTo>
                    <a:pt x="0" y="558800"/>
                  </a:moveTo>
                  <a:cubicBezTo>
                    <a:pt x="0" y="411634"/>
                    <a:pt x="46832" y="267731"/>
                    <a:pt x="128594" y="163669"/>
                  </a:cubicBezTo>
                  <a:cubicBezTo>
                    <a:pt x="210356" y="59606"/>
                    <a:pt x="323420" y="0"/>
                    <a:pt x="439048" y="0"/>
                  </a:cubicBezTo>
                  <a:lnTo>
                    <a:pt x="439048" y="285081"/>
                  </a:lnTo>
                  <a:cubicBezTo>
                    <a:pt x="382409" y="285081"/>
                    <a:pt x="327027" y="314278"/>
                    <a:pt x="286977" y="365251"/>
                  </a:cubicBezTo>
                  <a:cubicBezTo>
                    <a:pt x="246928" y="416225"/>
                    <a:pt x="223988" y="486712"/>
                    <a:pt x="223988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5B4EE1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99784" y="60325"/>
              <a:ext cx="239481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1014809">
            <a:off x="-1439163" y="7726003"/>
            <a:ext cx="5925666" cy="4536000"/>
            <a:chOff x="0" y="0"/>
            <a:chExt cx="1061812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61812" cy="812800"/>
            </a:xfrm>
            <a:custGeom>
              <a:avLst/>
              <a:gdLst/>
              <a:ahLst/>
              <a:cxnLst/>
              <a:rect r="r" b="b" t="t" l="l"/>
              <a:pathLst>
                <a:path h="812800" w="1061812">
                  <a:moveTo>
                    <a:pt x="0" y="0"/>
                  </a:moveTo>
                  <a:lnTo>
                    <a:pt x="1061812" y="0"/>
                  </a:lnTo>
                  <a:lnTo>
                    <a:pt x="106181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B4EE1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1061812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1014809">
            <a:off x="-668114" y="11393836"/>
            <a:ext cx="5925666" cy="4536000"/>
            <a:chOff x="0" y="0"/>
            <a:chExt cx="1061812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61812" cy="812800"/>
            </a:xfrm>
            <a:custGeom>
              <a:avLst/>
              <a:gdLst/>
              <a:ahLst/>
              <a:cxnLst/>
              <a:rect r="r" b="b" t="t" l="l"/>
              <a:pathLst>
                <a:path h="812800" w="1061812">
                  <a:moveTo>
                    <a:pt x="0" y="0"/>
                  </a:moveTo>
                  <a:lnTo>
                    <a:pt x="1061812" y="0"/>
                  </a:lnTo>
                  <a:lnTo>
                    <a:pt x="106181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B4EE1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1061812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0" y="12358342"/>
            <a:ext cx="5741593" cy="7612213"/>
            <a:chOff x="0" y="0"/>
            <a:chExt cx="1028829" cy="136402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28829" cy="1364023"/>
            </a:xfrm>
            <a:custGeom>
              <a:avLst/>
              <a:gdLst/>
              <a:ahLst/>
              <a:cxnLst/>
              <a:rect r="r" b="b" t="t" l="l"/>
              <a:pathLst>
                <a:path h="1364023" w="1028829">
                  <a:moveTo>
                    <a:pt x="0" y="0"/>
                  </a:moveTo>
                  <a:lnTo>
                    <a:pt x="1028829" y="0"/>
                  </a:lnTo>
                  <a:lnTo>
                    <a:pt x="1028829" y="1364023"/>
                  </a:lnTo>
                  <a:lnTo>
                    <a:pt x="0" y="136402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1028829" cy="1430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607560">
            <a:off x="2175947" y="8309477"/>
            <a:ext cx="2744510" cy="4063514"/>
          </a:xfrm>
          <a:custGeom>
            <a:avLst/>
            <a:gdLst/>
            <a:ahLst/>
            <a:cxnLst/>
            <a:rect r="r" b="b" t="t" l="l"/>
            <a:pathLst>
              <a:path h="4063514" w="2744510">
                <a:moveTo>
                  <a:pt x="0" y="0"/>
                </a:moveTo>
                <a:lnTo>
                  <a:pt x="2744511" y="0"/>
                </a:lnTo>
                <a:lnTo>
                  <a:pt x="2744511" y="4063514"/>
                </a:lnTo>
                <a:lnTo>
                  <a:pt x="0" y="40635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0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579571" y="9037253"/>
            <a:ext cx="3628479" cy="2769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Strengthens Ireland’s image as a deep‑tech, AI innovation hub.</a:t>
            </a:r>
          </a:p>
          <a:p>
            <a:pPr algn="just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Adds a high‑growth Irish‑owned player to the “Silicon Docks” story.</a:t>
            </a:r>
          </a:p>
          <a:p>
            <a:pPr algn="just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Lower logistics and sourcing costs make Irish exports more competitive.</a:t>
            </a:r>
          </a:p>
          <a:p>
            <a:pPr algn="just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 strike="noStrike" u="none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Success and funding help grow Ireland’s AI startup and investment ecosystem.</a:t>
            </a:r>
          </a:p>
        </p:txBody>
      </p:sp>
      <p:grpSp>
        <p:nvGrpSpPr>
          <p:cNvPr name="Group 73" id="73"/>
          <p:cNvGrpSpPr/>
          <p:nvPr/>
        </p:nvGrpSpPr>
        <p:grpSpPr>
          <a:xfrm rot="1776736">
            <a:off x="4798618" y="8672433"/>
            <a:ext cx="386976" cy="1311618"/>
            <a:chOff x="0" y="0"/>
            <a:chExt cx="69342" cy="23502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9342" cy="235027"/>
            </a:xfrm>
            <a:custGeom>
              <a:avLst/>
              <a:gdLst/>
              <a:ahLst/>
              <a:cxnLst/>
              <a:rect r="r" b="b" t="t" l="l"/>
              <a:pathLst>
                <a:path h="235027" w="69342">
                  <a:moveTo>
                    <a:pt x="0" y="0"/>
                  </a:moveTo>
                  <a:lnTo>
                    <a:pt x="69342" y="0"/>
                  </a:lnTo>
                  <a:lnTo>
                    <a:pt x="69342" y="235027"/>
                  </a:lnTo>
                  <a:lnTo>
                    <a:pt x="0" y="235027"/>
                  </a:lnTo>
                  <a:close/>
                </a:path>
              </a:pathLst>
            </a:custGeom>
            <a:solidFill>
              <a:srgbClr val="5B4EE1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69342" cy="301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999384">
            <a:off x="4734485" y="8698316"/>
            <a:ext cx="386976" cy="935442"/>
            <a:chOff x="0" y="0"/>
            <a:chExt cx="69342" cy="16762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9342" cy="167621"/>
            </a:xfrm>
            <a:custGeom>
              <a:avLst/>
              <a:gdLst/>
              <a:ahLst/>
              <a:cxnLst/>
              <a:rect r="r" b="b" t="t" l="l"/>
              <a:pathLst>
                <a:path h="167621" w="69342">
                  <a:moveTo>
                    <a:pt x="0" y="0"/>
                  </a:moveTo>
                  <a:lnTo>
                    <a:pt x="69342" y="0"/>
                  </a:lnTo>
                  <a:lnTo>
                    <a:pt x="69342" y="167621"/>
                  </a:lnTo>
                  <a:lnTo>
                    <a:pt x="0" y="167621"/>
                  </a:lnTo>
                  <a:close/>
                </a:path>
              </a:pathLst>
            </a:custGeom>
            <a:solidFill>
              <a:srgbClr val="5B4EE1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66675"/>
              <a:ext cx="69342" cy="23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6574514">
            <a:off x="3750064" y="8359304"/>
            <a:ext cx="386976" cy="935442"/>
            <a:chOff x="0" y="0"/>
            <a:chExt cx="69342" cy="16762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9342" cy="167621"/>
            </a:xfrm>
            <a:custGeom>
              <a:avLst/>
              <a:gdLst/>
              <a:ahLst/>
              <a:cxnLst/>
              <a:rect r="r" b="b" t="t" l="l"/>
              <a:pathLst>
                <a:path h="167621" w="69342">
                  <a:moveTo>
                    <a:pt x="0" y="0"/>
                  </a:moveTo>
                  <a:lnTo>
                    <a:pt x="69342" y="0"/>
                  </a:lnTo>
                  <a:lnTo>
                    <a:pt x="69342" y="167621"/>
                  </a:lnTo>
                  <a:lnTo>
                    <a:pt x="0" y="167621"/>
                  </a:lnTo>
                  <a:close/>
                </a:path>
              </a:pathLst>
            </a:custGeom>
            <a:solidFill>
              <a:srgbClr val="5B4EE1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69342" cy="234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6428603">
            <a:off x="4697383" y="8372139"/>
            <a:ext cx="386976" cy="940722"/>
            <a:chOff x="0" y="0"/>
            <a:chExt cx="69342" cy="16856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9342" cy="168567"/>
            </a:xfrm>
            <a:custGeom>
              <a:avLst/>
              <a:gdLst/>
              <a:ahLst/>
              <a:cxnLst/>
              <a:rect r="r" b="b" t="t" l="l"/>
              <a:pathLst>
                <a:path h="168567" w="69342">
                  <a:moveTo>
                    <a:pt x="0" y="0"/>
                  </a:moveTo>
                  <a:lnTo>
                    <a:pt x="69342" y="0"/>
                  </a:lnTo>
                  <a:lnTo>
                    <a:pt x="69342" y="168567"/>
                  </a:lnTo>
                  <a:lnTo>
                    <a:pt x="0" y="168567"/>
                  </a:lnTo>
                  <a:close/>
                </a:path>
              </a:pathLst>
            </a:custGeom>
            <a:solidFill>
              <a:srgbClr val="5B4EE1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66675"/>
              <a:ext cx="69342" cy="23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6428603">
            <a:off x="5041608" y="8048602"/>
            <a:ext cx="386976" cy="940722"/>
            <a:chOff x="0" y="0"/>
            <a:chExt cx="69342" cy="16856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9342" cy="168567"/>
            </a:xfrm>
            <a:custGeom>
              <a:avLst/>
              <a:gdLst/>
              <a:ahLst/>
              <a:cxnLst/>
              <a:rect r="r" b="b" t="t" l="l"/>
              <a:pathLst>
                <a:path h="168567" w="69342">
                  <a:moveTo>
                    <a:pt x="0" y="0"/>
                  </a:moveTo>
                  <a:lnTo>
                    <a:pt x="69342" y="0"/>
                  </a:lnTo>
                  <a:lnTo>
                    <a:pt x="69342" y="168567"/>
                  </a:lnTo>
                  <a:lnTo>
                    <a:pt x="0" y="1685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66675"/>
              <a:ext cx="69342" cy="235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5"/>
                </a:lnSpc>
              </a:pPr>
            </a:p>
          </p:txBody>
        </p:sp>
      </p:grpSp>
      <p:sp>
        <p:nvSpPr>
          <p:cNvPr name="Freeform 88" id="88"/>
          <p:cNvSpPr/>
          <p:nvPr/>
        </p:nvSpPr>
        <p:spPr>
          <a:xfrm flipH="false" flipV="false" rot="0">
            <a:off x="622848" y="9084878"/>
            <a:ext cx="276244" cy="348024"/>
          </a:xfrm>
          <a:custGeom>
            <a:avLst/>
            <a:gdLst/>
            <a:ahLst/>
            <a:cxnLst/>
            <a:rect r="r" b="b" t="t" l="l"/>
            <a:pathLst>
              <a:path h="348024" w="276244">
                <a:moveTo>
                  <a:pt x="0" y="0"/>
                </a:moveTo>
                <a:lnTo>
                  <a:pt x="276243" y="0"/>
                </a:lnTo>
                <a:lnTo>
                  <a:pt x="276243" y="348024"/>
                </a:lnTo>
                <a:lnTo>
                  <a:pt x="0" y="3480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622848" y="9632894"/>
            <a:ext cx="276244" cy="348024"/>
          </a:xfrm>
          <a:custGeom>
            <a:avLst/>
            <a:gdLst/>
            <a:ahLst/>
            <a:cxnLst/>
            <a:rect r="r" b="b" t="t" l="l"/>
            <a:pathLst>
              <a:path h="348024" w="276244">
                <a:moveTo>
                  <a:pt x="0" y="0"/>
                </a:moveTo>
                <a:lnTo>
                  <a:pt x="276243" y="0"/>
                </a:lnTo>
                <a:lnTo>
                  <a:pt x="276243" y="348023"/>
                </a:lnTo>
                <a:lnTo>
                  <a:pt x="0" y="3480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622848" y="10180942"/>
            <a:ext cx="276244" cy="348024"/>
          </a:xfrm>
          <a:custGeom>
            <a:avLst/>
            <a:gdLst/>
            <a:ahLst/>
            <a:cxnLst/>
            <a:rect r="r" b="b" t="t" l="l"/>
            <a:pathLst>
              <a:path h="348024" w="276244">
                <a:moveTo>
                  <a:pt x="0" y="0"/>
                </a:moveTo>
                <a:lnTo>
                  <a:pt x="276243" y="0"/>
                </a:lnTo>
                <a:lnTo>
                  <a:pt x="276243" y="348024"/>
                </a:lnTo>
                <a:lnTo>
                  <a:pt x="0" y="3480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622848" y="10995618"/>
            <a:ext cx="276244" cy="348024"/>
          </a:xfrm>
          <a:custGeom>
            <a:avLst/>
            <a:gdLst/>
            <a:ahLst/>
            <a:cxnLst/>
            <a:rect r="r" b="b" t="t" l="l"/>
            <a:pathLst>
              <a:path h="348024" w="276244">
                <a:moveTo>
                  <a:pt x="0" y="0"/>
                </a:moveTo>
                <a:lnTo>
                  <a:pt x="276243" y="0"/>
                </a:lnTo>
                <a:lnTo>
                  <a:pt x="276243" y="348023"/>
                </a:lnTo>
                <a:lnTo>
                  <a:pt x="0" y="3480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AutoShape 92" id="92"/>
          <p:cNvSpPr/>
          <p:nvPr/>
        </p:nvSpPr>
        <p:spPr>
          <a:xfrm>
            <a:off x="11876178" y="10812678"/>
            <a:ext cx="0" cy="530963"/>
          </a:xfrm>
          <a:prstGeom prst="line">
            <a:avLst/>
          </a:prstGeom>
          <a:ln cap="flat" w="38100">
            <a:solidFill>
              <a:srgbClr val="A6A6A6">
                <a:alpha val="41961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3" id="93"/>
          <p:cNvSpPr/>
          <p:nvPr/>
        </p:nvSpPr>
        <p:spPr>
          <a:xfrm>
            <a:off x="11895228" y="11961033"/>
            <a:ext cx="0" cy="530963"/>
          </a:xfrm>
          <a:prstGeom prst="line">
            <a:avLst/>
          </a:prstGeom>
          <a:ln cap="flat" w="38100">
            <a:solidFill>
              <a:srgbClr val="A6A6A6">
                <a:alpha val="41961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4" id="94"/>
          <p:cNvSpPr/>
          <p:nvPr/>
        </p:nvSpPr>
        <p:spPr>
          <a:xfrm>
            <a:off x="11914278" y="13045116"/>
            <a:ext cx="0" cy="530963"/>
          </a:xfrm>
          <a:prstGeom prst="line">
            <a:avLst/>
          </a:prstGeom>
          <a:ln cap="flat" w="38100">
            <a:solidFill>
              <a:srgbClr val="A6A6A6">
                <a:alpha val="41961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5" id="95"/>
          <p:cNvSpPr/>
          <p:nvPr/>
        </p:nvSpPr>
        <p:spPr>
          <a:xfrm>
            <a:off x="11933328" y="14198211"/>
            <a:ext cx="0" cy="530963"/>
          </a:xfrm>
          <a:prstGeom prst="line">
            <a:avLst/>
          </a:prstGeom>
          <a:ln cap="flat" w="38100">
            <a:solidFill>
              <a:srgbClr val="A6A6A6">
                <a:alpha val="41961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6" id="96"/>
          <p:cNvSpPr/>
          <p:nvPr/>
        </p:nvSpPr>
        <p:spPr>
          <a:xfrm>
            <a:off x="11952378" y="15322387"/>
            <a:ext cx="0" cy="530963"/>
          </a:xfrm>
          <a:prstGeom prst="line">
            <a:avLst/>
          </a:prstGeom>
          <a:ln cap="flat" w="38100">
            <a:solidFill>
              <a:srgbClr val="A6A6A6">
                <a:alpha val="41961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97" id="97"/>
          <p:cNvSpPr/>
          <p:nvPr/>
        </p:nvSpPr>
        <p:spPr>
          <a:xfrm flipH="false" flipV="false" rot="0">
            <a:off x="14384" y="4093119"/>
            <a:ext cx="15105616" cy="3568702"/>
          </a:xfrm>
          <a:custGeom>
            <a:avLst/>
            <a:gdLst/>
            <a:ahLst/>
            <a:cxnLst/>
            <a:rect r="r" b="b" t="t" l="l"/>
            <a:pathLst>
              <a:path h="3568702" w="15105616">
                <a:moveTo>
                  <a:pt x="0" y="0"/>
                </a:moveTo>
                <a:lnTo>
                  <a:pt x="15105616" y="0"/>
                </a:lnTo>
                <a:lnTo>
                  <a:pt x="15105616" y="3568702"/>
                </a:lnTo>
                <a:lnTo>
                  <a:pt x="0" y="356870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98" id="98"/>
          <p:cNvSpPr txBox="true"/>
          <p:nvPr/>
        </p:nvSpPr>
        <p:spPr>
          <a:xfrm rot="0">
            <a:off x="4258508" y="20627095"/>
            <a:ext cx="1251847" cy="40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  <a:spcBef>
                <a:spcPct val="0"/>
              </a:spcBef>
            </a:pPr>
            <a:r>
              <a:rPr lang="en-US" b="true" sz="228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Demand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97016" y="3002859"/>
            <a:ext cx="4413339" cy="40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5"/>
              </a:lnSpc>
              <a:spcBef>
                <a:spcPct val="0"/>
              </a:spcBef>
            </a:pPr>
            <a:r>
              <a:rPr lang="en-US" sz="2282" i="true">
                <a:solidFill>
                  <a:srgbClr val="D1D1D1"/>
                </a:solidFill>
                <a:latin typeface="Telegraf"/>
                <a:ea typeface="Telegraf"/>
                <a:cs typeface="Telegraf"/>
                <a:sym typeface="Telegraf"/>
              </a:rPr>
              <a:t>- CEO of Keelvar, Alan Holland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6361986" y="12399189"/>
            <a:ext cx="1187499" cy="30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5"/>
              </a:lnSpc>
              <a:spcBef>
                <a:spcPct val="0"/>
              </a:spcBef>
            </a:pPr>
            <a:r>
              <a:rPr lang="en-US" b="true" sz="1682">
                <a:solidFill>
                  <a:srgbClr val="06171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2012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6361986" y="12693600"/>
            <a:ext cx="427455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UCC spin-out . Enterprise Ireland ICT Commercialisation Award.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6361986" y="13302399"/>
            <a:ext cx="1187499" cy="30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5"/>
              </a:lnSpc>
              <a:spcBef>
                <a:spcPct val="0"/>
              </a:spcBef>
            </a:pPr>
            <a:r>
              <a:rPr lang="en-US" b="true" sz="1682">
                <a:solidFill>
                  <a:srgbClr val="06171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2013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6361986" y="13593030"/>
            <a:ext cx="423153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W</a:t>
            </a: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ins Cork Chamber of Commerce/Vodafone Emerging Company of the Year (Small Category).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6405012" y="14454289"/>
            <a:ext cx="1187499" cy="30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5"/>
              </a:lnSpc>
              <a:spcBef>
                <a:spcPct val="0"/>
              </a:spcBef>
            </a:pPr>
            <a:r>
              <a:rPr lang="en-US" b="true" sz="1682">
                <a:solidFill>
                  <a:srgbClr val="06171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2018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6405012" y="14752807"/>
            <a:ext cx="448608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Named</a:t>
            </a: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Gartner Cool Vendor in Procurement and Sourcing Technology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6405012" y="15352882"/>
            <a:ext cx="1187499" cy="30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5"/>
              </a:lnSpc>
              <a:spcBef>
                <a:spcPct val="0"/>
              </a:spcBef>
            </a:pPr>
            <a:r>
              <a:rPr lang="en-US" b="true" sz="1682">
                <a:solidFill>
                  <a:srgbClr val="06171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2019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6405012" y="15653037"/>
            <a:ext cx="4486080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Deploys world's</a:t>
            </a: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first Sourcing Bots for clients like Siemens.Wins IT@Cork Smart Technology Innovation Award. Wins 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6407093" y="16510288"/>
            <a:ext cx="1187499" cy="30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5"/>
              </a:lnSpc>
              <a:spcBef>
                <a:spcPct val="0"/>
              </a:spcBef>
            </a:pPr>
            <a:r>
              <a:rPr lang="en-US" b="true" sz="1682">
                <a:solidFill>
                  <a:srgbClr val="06171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2020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6407093" y="16846717"/>
            <a:ext cx="448399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Wins CPO Honors</a:t>
            </a: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Innovative Solution of the Year. Finalists: 2, Recognitions:1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6407093" y="17456317"/>
            <a:ext cx="1187499" cy="30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5"/>
              </a:lnSpc>
              <a:spcBef>
                <a:spcPct val="0"/>
              </a:spcBef>
            </a:pPr>
            <a:r>
              <a:rPr lang="en-US" b="true" sz="1682">
                <a:solidFill>
                  <a:srgbClr val="06171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2021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6407093" y="17792746"/>
            <a:ext cx="448399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Wins IT@Cork/Kerry</a:t>
            </a: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SciTech Tech Scale-Up of the Year. Wins Deloitte Technology Fast 50 Ireland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6405012" y="18402346"/>
            <a:ext cx="1187499" cy="30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5"/>
              </a:lnSpc>
              <a:spcBef>
                <a:spcPct val="0"/>
              </a:spcBef>
            </a:pPr>
            <a:r>
              <a:rPr lang="en-US" b="true" sz="1682">
                <a:solidFill>
                  <a:srgbClr val="06171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2024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6405012" y="18738776"/>
            <a:ext cx="448399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Named to</a:t>
            </a: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Spend Matters 50 to Watch and ProcureTech100 lists.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6361986" y="19348376"/>
            <a:ext cx="1187499" cy="30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5"/>
              </a:lnSpc>
              <a:spcBef>
                <a:spcPct val="0"/>
              </a:spcBef>
            </a:pPr>
            <a:r>
              <a:rPr lang="en-US" b="true" sz="1682">
                <a:solidFill>
                  <a:srgbClr val="061713"/>
                </a:solidFill>
                <a:latin typeface="Telegraf Bold"/>
                <a:ea typeface="Telegraf Bold"/>
                <a:cs typeface="Telegraf Bold"/>
                <a:sym typeface="Telegraf Bold"/>
              </a:rPr>
              <a:t>2025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6361986" y="19684805"/>
            <a:ext cx="448399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Launches Kai,</a:t>
            </a:r>
            <a:r>
              <a:rPr lang="en-US" sz="14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agentic AI orchestrator for natural language sourcing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1399380" y="8794875"/>
            <a:ext cx="2647296" cy="105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 i="true">
                <a:solidFill>
                  <a:srgbClr val="8851FF">
                    <a:alpha val="73725"/>
                  </a:srgbClr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HOW THEIR AI WORKS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803959" y="14166261"/>
            <a:ext cx="4133675" cy="415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 strike="noStrike" u="none">
                <a:solidFill>
                  <a:srgbClr val="F2F2F6"/>
                </a:solidFill>
                <a:latin typeface="Telegraf"/>
                <a:ea typeface="Telegraf"/>
                <a:cs typeface="Telegraf"/>
                <a:sym typeface="Telegraf"/>
              </a:rPr>
              <a:t>Heavy‑equipment maker scaled sourcing events by 1,620% YoY.</a:t>
            </a:r>
          </a:p>
          <a:p>
            <a:pPr algn="just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 strike="noStrike" u="none">
                <a:solidFill>
                  <a:srgbClr val="F2F2F6"/>
                </a:solidFill>
                <a:latin typeface="Telegraf"/>
                <a:ea typeface="Telegraf"/>
                <a:cs typeface="Telegraf"/>
                <a:sym typeface="Telegraf"/>
              </a:rPr>
              <a:t>Beverage giant saved 1,575 workdays across 175 events.</a:t>
            </a:r>
          </a:p>
          <a:p>
            <a:pPr algn="just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 strike="noStrike" u="none">
                <a:solidFill>
                  <a:srgbClr val="F2F2F6"/>
                </a:solidFill>
                <a:latin typeface="Telegraf"/>
                <a:ea typeface="Telegraf"/>
                <a:cs typeface="Telegraf"/>
                <a:sym typeface="Telegraf"/>
              </a:rPr>
              <a:t>Consumer goods firm now manages $228M/month in spend (up from $4M).</a:t>
            </a:r>
          </a:p>
          <a:p>
            <a:pPr algn="just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 strike="noStrike" u="none">
                <a:solidFill>
                  <a:srgbClr val="F2F2F6"/>
                </a:solidFill>
                <a:latin typeface="Telegraf"/>
                <a:ea typeface="Telegraf"/>
                <a:cs typeface="Telegraf"/>
                <a:sym typeface="Telegraf"/>
              </a:rPr>
              <a:t>Ingredients producer gained 26% savings; healthcare tech cut time‑to‑bid by 90%.</a:t>
            </a:r>
          </a:p>
          <a:p>
            <a:pPr algn="just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 strike="noStrike" u="none">
                <a:solidFill>
                  <a:srgbClr val="F2F2F6"/>
                </a:solidFill>
                <a:latin typeface="Telegraf"/>
                <a:ea typeface="Telegraf"/>
                <a:cs typeface="Telegraf"/>
                <a:sym typeface="Telegraf"/>
              </a:rPr>
              <a:t>Electronics manufacturer achieved 649x ROI; Fortune 500 F&amp;B got 8% price compression and minutes‑level analysis.</a:t>
            </a:r>
          </a:p>
          <a:p>
            <a:pPr algn="just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 strike="noStrike" u="none">
                <a:solidFill>
                  <a:srgbClr val="F2F2F6"/>
                </a:solidFill>
                <a:latin typeface="Telegraf"/>
                <a:ea typeface="Telegraf"/>
                <a:cs typeface="Telegraf"/>
                <a:sym typeface="Telegraf"/>
              </a:rPr>
              <a:t>Overall, 85% of sourcing is automated, with some events done in &lt;15 minutes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622848" y="8601643"/>
            <a:ext cx="1828949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Impact on Ireland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937804" y="13715630"/>
            <a:ext cx="332070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Insights- Proven Outcomes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DAHE3XY7A5E</dc:identifier>
  <dcterms:modified xsi:type="dcterms:W3CDTF">2011-08-01T06:04:30Z</dcterms:modified>
  <cp:revision>1</cp:revision>
  <dc:title>Company Logo</dc:title>
</cp:coreProperties>
</file>